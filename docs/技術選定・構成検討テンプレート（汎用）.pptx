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Bootプロジェクト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技術選定・構成検討テンプレート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要件整理から設計書・本番リリースまで、何から考えるべきかをSTEPに分けて整理する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対象：Java／Spring Boot ＋ HTML（Thymeleaf）／JavaScript／CSSで業務システムを開発する場合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（設計書作成・本番リリース・バッチ処理を含む）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作成日：　　　年　　月　　日　　　作成者：　　　　　　　　　　　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601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3559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 － STEP1〜7の流れを1枚で俯瞰する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0996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881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　要件整理 － 何を作るか整理する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8433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8318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　技術選定 － 何を使うか決める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5870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5755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　構成設計 － どう組み立てるか決める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3307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　設計書作成 － 基本設計書・詳細設計書に何を書くか決める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707445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60629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STEP5　本番リリース・インフラ構成 － サーバー・AWS対応・バッチを決める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38181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8066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STEP6　テスト戦略 － どう確認するか決める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6056186"/>
            <a:ext cx="54864" cy="472059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955030"/>
            <a:ext cx="10911535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STEP7　着手前チェック － 最終確認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601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全体像：何から考えるべきか（7つのSTEP）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プロジェクトを一から作る際、この順番で検討すると手戻りが少ない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7132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6" name="Text 4"/>
          <p:cNvSpPr/>
          <p:nvPr/>
        </p:nvSpPr>
        <p:spPr>
          <a:xfrm>
            <a:off x="367132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7132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132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要件整理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84452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40484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11" name="Text 9"/>
          <p:cNvSpPr/>
          <p:nvPr/>
        </p:nvSpPr>
        <p:spPr>
          <a:xfrm>
            <a:off x="2040484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40484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0484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技術選定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57804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13836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16" name="Text 14"/>
          <p:cNvSpPr/>
          <p:nvPr/>
        </p:nvSpPr>
        <p:spPr>
          <a:xfrm>
            <a:off x="3713836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3836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3836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構成設計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31156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87188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21" name="Text 19"/>
          <p:cNvSpPr/>
          <p:nvPr/>
        </p:nvSpPr>
        <p:spPr>
          <a:xfrm>
            <a:off x="5387188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87188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7188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設計書作成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04508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60540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26" name="Text 24"/>
          <p:cNvSpPr/>
          <p:nvPr/>
        </p:nvSpPr>
        <p:spPr>
          <a:xfrm>
            <a:off x="70605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60540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0540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本番リリース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インフラ構成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77860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33892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31" name="Text 29"/>
          <p:cNvSpPr/>
          <p:nvPr/>
        </p:nvSpPr>
        <p:spPr>
          <a:xfrm>
            <a:off x="8733892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733892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3892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テスト戦略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51212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07244" y="1920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5B7FA6"/>
          </a:solidFill>
          <a:ln/>
        </p:spPr>
      </p:sp>
      <p:sp>
        <p:nvSpPr>
          <p:cNvPr id="36" name="Text 34"/>
          <p:cNvSpPr/>
          <p:nvPr/>
        </p:nvSpPr>
        <p:spPr>
          <a:xfrm>
            <a:off x="10407244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07244" y="2423160"/>
            <a:ext cx="141732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07244" y="2423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着手前チェック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要件を整理 → 使う技術を決める → 構成を設計 → 設計書を作る → 本番環境を決める → テスト方針を決める → 最終確認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実際には行き来しながら詰めることも多いが、「最初にどの順番で考えるか」の目安として使う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要件整理 － 何を作るか整理する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「誰が」「何を」「どういう順番で」行う業務なのか？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1460175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業務フローを時系列で箇条書きにする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業務フローを「機能（データの塊）」の単位に分ける（1つの概念ごとにCRUD操作をまとめる）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機能同士の依存の向きを決める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守るべき業務ルール（重複禁止・上限下限・〇〇できない条件）を言語化する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POINT：業務ルールは後で例外クラス・テストケースにそのまま使えるので、この段階で漏れなく出す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技術選定 － 何を使うか決める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言語・DB・画面技術（JS/CSS）・IDE・開発手法として、何を選ぶか？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592928" cy="105156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言語／FW／DB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5318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例：Java＋Spring Boot／Oracle・PostgreSQL（本番）／H2（テスト）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1828800"/>
            <a:ext cx="5592928" cy="105156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1901952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画面技術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0168" y="2240280"/>
            <a:ext cx="5318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例：Thymeleaf（HTML）／JavaScript（jQuery等）／CSS（Bootstrap等）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5592928" cy="105156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36392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開発基盤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5318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例：Flyway（DB管理）／JUnit＋JaCoCo（テスト・カバレッジ）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3008" y="3063240"/>
            <a:ext cx="5592928" cy="105156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0168" y="3136392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IDE／開発手法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474720"/>
            <a:ext cx="5318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例：Eclipse／IntelliJ IDEA　　例：ウォーターフォール／アジャイル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343400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POINT：案件でDB・IDE・開発手法があらかじめ決まっていることも多いので、まず案件の制約を確認する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構成設計 － どう組み立てるか決める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パッケージ（フォルダ）をどう分け、各層の役割をどう決めるか？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パッケージ分割の考え方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1460175" cy="82296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選択肢A：層（controller/service/repository）を最上位にする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選択肢B：機能（業務の塊）を最上位にし、その中に層をまとめる（機能追加が多いならこちら）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1999427" cy="1371600"/>
          </a:xfrm>
          <a:prstGeom prst="roundRect">
            <a:avLst>
              <a:gd name="adj" fmla="val 3333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46120"/>
            <a:ext cx="1999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3611880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DBのテーブルに対応するデータの入れ物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30947" y="3154680"/>
            <a:ext cx="1999427" cy="1371600"/>
          </a:xfrm>
          <a:prstGeom prst="roundRect">
            <a:avLst>
              <a:gd name="adj" fmla="val 3333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0947" y="3246120"/>
            <a:ext cx="1999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4099" y="3611880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DBへのアクセス窓口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6134" y="3154680"/>
            <a:ext cx="1999427" cy="1371600"/>
          </a:xfrm>
          <a:prstGeom prst="roundRect">
            <a:avLst>
              <a:gd name="adj" fmla="val 3333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6134" y="3246120"/>
            <a:ext cx="1999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9286" y="3611880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業務ロジック本体（ここにルールを集約）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61321" y="3154680"/>
            <a:ext cx="1999427" cy="1371600"/>
          </a:xfrm>
          <a:prstGeom prst="roundRect">
            <a:avLst>
              <a:gd name="adj" fmla="val 3333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321" y="3246120"/>
            <a:ext cx="1999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4473" y="3611880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画面／APIの受け口（薄く保つ）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826508" y="3154680"/>
            <a:ext cx="1999427" cy="1371600"/>
          </a:xfrm>
          <a:prstGeom prst="roundRect">
            <a:avLst>
              <a:gd name="adj" fmla="val 3333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6508" y="3246120"/>
            <a:ext cx="1999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99660" y="3611880"/>
            <a:ext cx="1853123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業務ルール違反を表すクラス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設計書作成 － 基本設計書・詳細設計書を作る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基本設計書・詳細設計書として、何を・どこまで書くか？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559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基本設計書（外部設計）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592928" cy="246888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522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画面設計：画面遷移図・レイアウト・入出力項目定義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DB設計：ER図・テーブル定義書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外部I/F設計：他システム連携仕様・API仕様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バッチ処理の概要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3008" y="1828800"/>
            <a:ext cx="559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詳細設計書（内部設計）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92928" cy="246888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2286000"/>
            <a:ext cx="522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クラス設計：クラス図・各クラスの責務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処理フロー：シーケンス図・フローチャート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SQL設計：発行SQL・インデックス設計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バッチ詳細・例外設計（エラーコード等）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POINT：ウォーターフォール型開発ではこの設計書がレビュー対象。実装前に関係者の合意を取る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本番リリース・インフラ構成①（サーバー構成）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本番環境はどこに、どんな構成で構築するか？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インフラ方式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1460175" cy="118872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AWSなどクラウド向け：EC2/ECS/Fargate・RDS・S3・ALB・CloudWatch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AWS向けでない（オンプレミス／社内サーバ）：自社サーバにミドルウェアを直接構築・運用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案件によってどちらか決まっていることが多いので、まず制約を確認する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3637178" cy="118872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Nginx／Apache HTTPD 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7258" y="3520440"/>
            <a:ext cx="3637178" cy="118872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8698" y="361188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APサーバー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68698" y="397764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組込Tomcat／外部Tomcat／WildFly／WebLogic 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8757" y="3520440"/>
            <a:ext cx="3637178" cy="118872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0197" y="3611880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DBサーバー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0197" y="397764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Oracle／PostgreSQL／MySQL 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本番リリース・インフラ構成②（バッチ処理）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バッチ処理はどう動かし、どう運用するか？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バッチ処理の設計項目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1460175" cy="201168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実行方式：Spring Batch／cron＋シェルスクリプト／ジョブ管理ツール（JP1等）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起動契機：定時実行／手動実行／イベント契機（ファイル到着等）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異常時の運用：リトライ回数、通知先（メール／監視ツール）、ログ出力ルール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POINT：バッチは画面と違い動作が見えないため、ログ・監視・異常時対応を特に丁寧に設計する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テスト戦略 － どう確認するか決める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テストはどの粒度で、どこまで自動化しておくか？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592928" cy="91440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単体テスト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531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業務ロジック（Service層）を対象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1828800"/>
            <a:ext cx="5592928" cy="91440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統合テスト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0168" y="2286000"/>
            <a:ext cx="531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画面／API（Controller層）を対象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最初から組み込むこと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11460175" cy="13716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テスト用DBを本番用DBと分離する（インメモリDB等）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STEP1の業務ルールを、そのまま異常系・境界値のテストケースにする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「一部失敗時に全体がどう振る舞うか」を観点に入れる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カバレッジ計測とワンクリック実行の仕組みを早めに用意する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着手前チェック － 最終確認をする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CEFD0"/>
          </a:solidFill>
          <a:ln w="19050">
            <a:solidFill>
              <a:srgbClr val="DDB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このSTEPで問うこと： STEP1〜6で決めたことに、抜け漏れはないか？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業務フローを機能単位に分解した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業務ルール（バリデーション・例外パターン）を言語化した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9689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596896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パッケージ構成・層構成のルールを決めた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80944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DBのスキーマ管理方式を決めた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364992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テスト用DBを本番用DBと分離した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ビルドツール・依存関係を確定した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8288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3048" y="1828800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Git初期化・リモート連携を最初にやった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22128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53048" y="2212848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テストの粒度（単体／統合）を決めた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3008" y="259689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53048" y="2596896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 カバレッジ計測・ワンクリック実行を組み込んだ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3008" y="29809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53048" y="2980944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 ドキュメント化の方針（誰が読むか）を決めた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3008" y="33649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53048" y="3364992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 基本設計書・詳細設計書のレビューを受けた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3008" y="37490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3048" y="3749040"/>
            <a:ext cx="527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 本番サーバー構成・バッチ運用方針を確認した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2026-08-31T02:30:16Z</dcterms:created>
  <dcterms:modified xsi:type="dcterms:W3CDTF">2026-08-31T02:30:16Z</dcterms:modified>
</cp:coreProperties>
</file>