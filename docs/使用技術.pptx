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17A9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246120"/>
            <a:ext cx="12191695" cy="54864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1488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B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spring-boot-practice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260604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プロジェクト 技術ハイライト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34290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3E9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美容品販売管理システム（レジ機能）｜ Spring Boot × Thymeleaf × Claude Code で実装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3E9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社内共有資料　｜　開発：VS Code + Claude Code　｜　実行環境：Java 21 / Spring Boot 3.5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D17A9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このプロジェクトについて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676656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B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店頭のレジ業務を模した、美容品販売管理システム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539496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5875">
            <a:solidFill>
              <a:srgbClr val="D17A9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1399032"/>
            <a:ext cx="5138928" cy="2185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17A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概要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1691640"/>
            <a:ext cx="49377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Spring Boot 練習用に作成した REST API 雛形へ、美容品販売店の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店頭レジ業務を模した画面を追加したデモアプリケーション。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商品コード／名称の検索から、会計、売上登録、在庫更新まで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一連の業務フローを1画面で完結できる。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35040" y="1325880"/>
            <a:ext cx="5696712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5875">
            <a:solidFill>
              <a:srgbClr val="D17A9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63056" y="1399032"/>
            <a:ext cx="5440680" cy="2185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17A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263640" y="1691640"/>
            <a:ext cx="53035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 Code を使った開発フローの検証・練習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業務システム（POS）の典型的な設計パターンの実践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上司・チームへの技術共有資料の一式作成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7200" y="3886200"/>
            <a:ext cx="2926080" cy="320040"/>
          </a:xfrm>
          <a:prstGeom prst="rect">
            <a:avLst/>
          </a:prstGeom>
          <a:solidFill>
            <a:srgbClr val="C9A96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業務フロー（要件どおり）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4343400"/>
            <a:ext cx="1444752" cy="960120"/>
          </a:xfrm>
          <a:prstGeom prst="roundRect">
            <a:avLst>
              <a:gd name="adj" fmla="val 8571"/>
            </a:avLst>
          </a:prstGeom>
          <a:solidFill>
            <a:srgbClr val="FBEAF0"/>
          </a:solidFill>
          <a:ln w="15875">
            <a:solidFill>
              <a:srgbClr val="D17A9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5216" y="4416552"/>
            <a:ext cx="1188720" cy="813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①コード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920240" y="4718304"/>
            <a:ext cx="164592" cy="201168"/>
          </a:xfrm>
          <a:prstGeom prst="rightArrow">
            <a:avLst/>
          </a:prstGeom>
          <a:solidFill>
            <a:srgbClr val="C9A961"/>
          </a:solidFill>
          <a:ln/>
        </p:spPr>
      </p:sp>
      <p:sp>
        <p:nvSpPr>
          <p:cNvPr id="16" name="Shape 14"/>
          <p:cNvSpPr/>
          <p:nvPr/>
        </p:nvSpPr>
        <p:spPr>
          <a:xfrm>
            <a:off x="2103120" y="4343400"/>
            <a:ext cx="1444752" cy="960120"/>
          </a:xfrm>
          <a:prstGeom prst="roundRect">
            <a:avLst>
              <a:gd name="adj" fmla="val 8571"/>
            </a:avLst>
          </a:prstGeom>
          <a:solidFill>
            <a:srgbClr val="F3E9D2"/>
          </a:solidFill>
          <a:ln w="15875">
            <a:solidFill>
              <a:srgbClr val="C9A9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31136" y="4416552"/>
            <a:ext cx="1188720" cy="813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②商品情報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取得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566160" y="4718304"/>
            <a:ext cx="164592" cy="201168"/>
          </a:xfrm>
          <a:prstGeom prst="rightArrow">
            <a:avLst/>
          </a:prstGeom>
          <a:solidFill>
            <a:srgbClr val="C9A961"/>
          </a:solidFill>
          <a:ln/>
        </p:spPr>
      </p:sp>
      <p:sp>
        <p:nvSpPr>
          <p:cNvPr id="19" name="Shape 17"/>
          <p:cNvSpPr/>
          <p:nvPr/>
        </p:nvSpPr>
        <p:spPr>
          <a:xfrm>
            <a:off x="3749040" y="4343400"/>
            <a:ext cx="1444752" cy="960120"/>
          </a:xfrm>
          <a:prstGeom prst="roundRect">
            <a:avLst>
              <a:gd name="adj" fmla="val 8571"/>
            </a:avLst>
          </a:prstGeom>
          <a:solidFill>
            <a:srgbClr val="FBEAF0"/>
          </a:solidFill>
          <a:ln w="15875">
            <a:solidFill>
              <a:srgbClr val="D17A9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77056" y="4416552"/>
            <a:ext cx="1188720" cy="813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③カート追加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合計計算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212080" y="4718304"/>
            <a:ext cx="164592" cy="201168"/>
          </a:xfrm>
          <a:prstGeom prst="rightArrow">
            <a:avLst/>
          </a:prstGeom>
          <a:solidFill>
            <a:srgbClr val="C9A961"/>
          </a:solidFill>
          <a:ln/>
        </p:spPr>
      </p:sp>
      <p:sp>
        <p:nvSpPr>
          <p:cNvPr id="22" name="Shape 20"/>
          <p:cNvSpPr/>
          <p:nvPr/>
        </p:nvSpPr>
        <p:spPr>
          <a:xfrm>
            <a:off x="5394960" y="4343400"/>
            <a:ext cx="1444752" cy="960120"/>
          </a:xfrm>
          <a:prstGeom prst="roundRect">
            <a:avLst>
              <a:gd name="adj" fmla="val 8571"/>
            </a:avLst>
          </a:prstGeom>
          <a:solidFill>
            <a:srgbClr val="F3E9D2"/>
          </a:solidFill>
          <a:ln w="15875">
            <a:solidFill>
              <a:srgbClr val="C9A9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22976" y="4416552"/>
            <a:ext cx="1188720" cy="813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④支払い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(現金入力)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858000" y="4718304"/>
            <a:ext cx="164592" cy="201168"/>
          </a:xfrm>
          <a:prstGeom prst="rightArrow">
            <a:avLst/>
          </a:prstGeom>
          <a:solidFill>
            <a:srgbClr val="C9A961"/>
          </a:solidFill>
          <a:ln/>
        </p:spPr>
      </p:sp>
      <p:sp>
        <p:nvSpPr>
          <p:cNvPr id="25" name="Shape 23"/>
          <p:cNvSpPr/>
          <p:nvPr/>
        </p:nvSpPr>
        <p:spPr>
          <a:xfrm>
            <a:off x="7040880" y="4343400"/>
            <a:ext cx="1444752" cy="960120"/>
          </a:xfrm>
          <a:prstGeom prst="roundRect">
            <a:avLst>
              <a:gd name="adj" fmla="val 8571"/>
            </a:avLst>
          </a:prstGeom>
          <a:solidFill>
            <a:srgbClr val="FBEAF0"/>
          </a:solidFill>
          <a:ln w="15875">
            <a:solidFill>
              <a:srgbClr val="D17A9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68896" y="4416552"/>
            <a:ext cx="1188720" cy="813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⑤お釣り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503920" y="4718304"/>
            <a:ext cx="164592" cy="201168"/>
          </a:xfrm>
          <a:prstGeom prst="rightArrow">
            <a:avLst/>
          </a:prstGeom>
          <a:solidFill>
            <a:srgbClr val="C9A961"/>
          </a:solidFill>
          <a:ln/>
        </p:spPr>
      </p:sp>
      <p:sp>
        <p:nvSpPr>
          <p:cNvPr id="28" name="Shape 26"/>
          <p:cNvSpPr/>
          <p:nvPr/>
        </p:nvSpPr>
        <p:spPr>
          <a:xfrm>
            <a:off x="8686800" y="4343400"/>
            <a:ext cx="1444752" cy="960120"/>
          </a:xfrm>
          <a:prstGeom prst="roundRect">
            <a:avLst>
              <a:gd name="adj" fmla="val 8571"/>
            </a:avLst>
          </a:prstGeom>
          <a:solidFill>
            <a:srgbClr val="F3E9D2"/>
          </a:solidFill>
          <a:ln w="15875">
            <a:solidFill>
              <a:srgbClr val="C9A96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14816" y="4416552"/>
            <a:ext cx="1188720" cy="813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⑥売上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登録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10149840" y="4718304"/>
            <a:ext cx="164592" cy="201168"/>
          </a:xfrm>
          <a:prstGeom prst="rightArrow">
            <a:avLst/>
          </a:prstGeom>
          <a:solidFill>
            <a:srgbClr val="C9A961"/>
          </a:solidFill>
          <a:ln/>
        </p:spPr>
      </p:sp>
      <p:sp>
        <p:nvSpPr>
          <p:cNvPr id="31" name="Shape 29"/>
          <p:cNvSpPr/>
          <p:nvPr/>
        </p:nvSpPr>
        <p:spPr>
          <a:xfrm>
            <a:off x="10332720" y="4343400"/>
            <a:ext cx="1444752" cy="960120"/>
          </a:xfrm>
          <a:prstGeom prst="roundRect">
            <a:avLst>
              <a:gd name="adj" fmla="val 8571"/>
            </a:avLst>
          </a:prstGeom>
          <a:solidFill>
            <a:srgbClr val="FBEAF0"/>
          </a:solidFill>
          <a:ln w="15875">
            <a:solidFill>
              <a:srgbClr val="D17A9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460736" y="4416552"/>
            <a:ext cx="1188720" cy="813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⑦在庫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更新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457200" y="6528816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3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spring-boot-practice ｜ 美容品販売管理システム（社内共有用）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52144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3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D17A9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技術スタック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676656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B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Java エコシステムの標準的な構成でシンプルに実現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2121408" cy="1737360"/>
          </a:xfrm>
          <a:prstGeom prst="roundRect">
            <a:avLst>
              <a:gd name="adj" fmla="val 4737"/>
            </a:avLst>
          </a:prstGeom>
          <a:solidFill>
            <a:srgbClr val="FBEAF0"/>
          </a:solidFill>
          <a:ln w="15875">
            <a:solidFill>
              <a:srgbClr val="D17A9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1536192"/>
            <a:ext cx="1865376" cy="1591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17A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Java 21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 / 実行基盤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743200" y="1463040"/>
            <a:ext cx="2121408" cy="1737360"/>
          </a:xfrm>
          <a:prstGeom prst="roundRect">
            <a:avLst>
              <a:gd name="adj" fmla="val 4737"/>
            </a:avLst>
          </a:prstGeom>
          <a:solidFill>
            <a:srgbClr val="F3E9D2"/>
          </a:solidFill>
          <a:ln w="15875">
            <a:solidFill>
              <a:srgbClr val="C9A9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71216" y="1536192"/>
            <a:ext cx="1865376" cy="1591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17A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Spring Boot 3.5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Webアプリ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フレームワーク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0" y="1463040"/>
            <a:ext cx="2121408" cy="1737360"/>
          </a:xfrm>
          <a:prstGeom prst="roundRect">
            <a:avLst>
              <a:gd name="adj" fmla="val 4737"/>
            </a:avLst>
          </a:prstGeom>
          <a:solidFill>
            <a:srgbClr val="FBEAF0"/>
          </a:solidFill>
          <a:ln w="15875">
            <a:solidFill>
              <a:srgbClr val="D17A9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57216" y="1536192"/>
            <a:ext cx="1865376" cy="1591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17A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Thymeleaf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サーバーサイド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HTMLテンプレート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0" y="1463040"/>
            <a:ext cx="2121408" cy="1737360"/>
          </a:xfrm>
          <a:prstGeom prst="roundRect">
            <a:avLst>
              <a:gd name="adj" fmla="val 4737"/>
            </a:avLst>
          </a:prstGeom>
          <a:solidFill>
            <a:srgbClr val="F3E9D2"/>
          </a:solidFill>
          <a:ln w="15875">
            <a:solidFill>
              <a:srgbClr val="C9A9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43216" y="1536192"/>
            <a:ext cx="1865376" cy="1591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17A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PostgreSQL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本番想定DB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（Flyway管理／テストはH2）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9601200" y="1463040"/>
            <a:ext cx="2121408" cy="1737360"/>
          </a:xfrm>
          <a:prstGeom prst="roundRect">
            <a:avLst>
              <a:gd name="adj" fmla="val 4737"/>
            </a:avLst>
          </a:prstGeom>
          <a:solidFill>
            <a:srgbClr val="FBEAF0"/>
          </a:solidFill>
          <a:ln w="15875">
            <a:solidFill>
              <a:srgbClr val="D17A9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29216" y="1536192"/>
            <a:ext cx="1865376" cy="1591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17A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Gradle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ビルドツール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3520440"/>
            <a:ext cx="11274552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5875">
            <a:solidFill>
              <a:srgbClr val="D17A9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5216" y="3593592"/>
            <a:ext cx="11018520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17A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周辺ライブラリ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Spring Web ／ Spring Data JPA ／ Bean Validation ／ Spring Boot Starter Thymeleaf ／ Flyway ／ PostgreSQL JDBC Driver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4617720"/>
            <a:ext cx="11274552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5875">
            <a:solidFill>
              <a:srgbClr val="D17A9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5216" y="4690872"/>
            <a:ext cx="11018520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17A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JUnit 5 ／ MockMvc（コントローラテスト） ／ Spring Boot Test（サービス層の統合テスト）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5715000"/>
            <a:ext cx="11274552" cy="685800"/>
          </a:xfrm>
          <a:prstGeom prst="roundRect">
            <a:avLst>
              <a:gd name="adj" fmla="val 12000"/>
            </a:avLst>
          </a:prstGeom>
          <a:solidFill>
            <a:srgbClr val="FBEAF0"/>
          </a:solidFill>
          <a:ln w="15875">
            <a:solidFill>
              <a:srgbClr val="D17A9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5216" y="5788152"/>
            <a:ext cx="11018520" cy="539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17A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ポイント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「画面（Thymeleaf）」と「REST API（JSON）」を同一プロジェクト内で共存させ、用途に応じて使い分けている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6528816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3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spring-boot-practice ｜ 美容品販売管理システム（社内共有用）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52144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3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D17A9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システムアーキテクチャ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676656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B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レイヤードアーキテクチャ：責務ごとに層を分離し、保守しやすい構成に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0" y="1371600"/>
            <a:ext cx="3959352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D17A9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42816" y="1444752"/>
            <a:ext cx="3703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17A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ブラウザ（画面操作）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66460" y="1874520"/>
            <a:ext cx="256032" cy="228600"/>
          </a:xfrm>
          <a:prstGeom prst="downArrow">
            <a:avLst/>
          </a:prstGeom>
          <a:solidFill>
            <a:srgbClr val="C9A961"/>
          </a:solidFill>
          <a:ln/>
        </p:spPr>
      </p:sp>
      <p:sp>
        <p:nvSpPr>
          <p:cNvPr id="9" name="Shape 7"/>
          <p:cNvSpPr/>
          <p:nvPr/>
        </p:nvSpPr>
        <p:spPr>
          <a:xfrm>
            <a:off x="1371600" y="2148840"/>
            <a:ext cx="4480560" cy="868680"/>
          </a:xfrm>
          <a:prstGeom prst="roundRect">
            <a:avLst>
              <a:gd name="adj" fmla="val 9474"/>
            </a:avLst>
          </a:prstGeom>
          <a:solidFill>
            <a:srgbClr val="FBEAF0"/>
          </a:solidFill>
          <a:ln w="15875">
            <a:solidFill>
              <a:srgbClr val="D17A9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99616" y="2221992"/>
            <a:ext cx="4224528" cy="722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17A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Controller層（画面 / Thymeleaf）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PosController／ItemPageController／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SaleHistoryController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09360" y="2148840"/>
            <a:ext cx="4480560" cy="868680"/>
          </a:xfrm>
          <a:prstGeom prst="roundRect">
            <a:avLst>
              <a:gd name="adj" fmla="val 9474"/>
            </a:avLst>
          </a:prstGeom>
          <a:solidFill>
            <a:srgbClr val="F3E9D2"/>
          </a:solidFill>
          <a:ln w="15875">
            <a:solidFill>
              <a:srgbClr val="C9A9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37376" y="2221992"/>
            <a:ext cx="4224528" cy="722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17A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Controller層（REST API）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ItemController：/api/items（JSON）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※既存APIをそのまま維持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66460" y="3063240"/>
            <a:ext cx="256032" cy="228600"/>
          </a:xfrm>
          <a:prstGeom prst="downArrow">
            <a:avLst/>
          </a:prstGeom>
          <a:solidFill>
            <a:srgbClr val="C9A961"/>
          </a:solidFill>
          <a:ln/>
        </p:spPr>
      </p:sp>
      <p:sp>
        <p:nvSpPr>
          <p:cNvPr id="14" name="Shape 12"/>
          <p:cNvSpPr/>
          <p:nvPr/>
        </p:nvSpPr>
        <p:spPr>
          <a:xfrm>
            <a:off x="1371600" y="3337560"/>
            <a:ext cx="9418320" cy="731520"/>
          </a:xfrm>
          <a:prstGeom prst="roundRect">
            <a:avLst>
              <a:gd name="adj" fmla="val 11250"/>
            </a:avLst>
          </a:prstGeom>
          <a:solidFill>
            <a:srgbClr val="FBEAF0"/>
          </a:solidFill>
          <a:ln w="15875">
            <a:solidFill>
              <a:srgbClr val="D17A9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499616" y="3410712"/>
            <a:ext cx="9162288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17A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Service層（業務ロジック・トランザクション管理）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ItemService（商品検索・在庫更新） ／ SaleService（会計処理を1トランザクションで実行） ／ Cart（セッションスコープ）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66460" y="4114800"/>
            <a:ext cx="256032" cy="228600"/>
          </a:xfrm>
          <a:prstGeom prst="downArrow">
            <a:avLst/>
          </a:prstGeom>
          <a:solidFill>
            <a:srgbClr val="C9A961"/>
          </a:solidFill>
          <a:ln/>
        </p:spPr>
      </p:sp>
      <p:sp>
        <p:nvSpPr>
          <p:cNvPr id="17" name="Shape 15"/>
          <p:cNvSpPr/>
          <p:nvPr/>
        </p:nvSpPr>
        <p:spPr>
          <a:xfrm>
            <a:off x="1371600" y="4389120"/>
            <a:ext cx="9418320" cy="548640"/>
          </a:xfrm>
          <a:prstGeom prst="roundRect">
            <a:avLst>
              <a:gd name="adj" fmla="val 15000"/>
            </a:avLst>
          </a:prstGeom>
          <a:solidFill>
            <a:srgbClr val="FBEAF0"/>
          </a:solidFill>
          <a:ln w="15875">
            <a:solidFill>
              <a:srgbClr val="D17A9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99616" y="4462272"/>
            <a:ext cx="9162288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17A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Repository層（Spring Data JPA）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ItemRepository ／ SaleRepository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66460" y="4983480"/>
            <a:ext cx="256032" cy="228600"/>
          </a:xfrm>
          <a:prstGeom prst="downArrow">
            <a:avLst/>
          </a:prstGeom>
          <a:solidFill>
            <a:srgbClr val="C9A961"/>
          </a:solidFill>
          <a:ln/>
        </p:spPr>
      </p:sp>
      <p:sp>
        <p:nvSpPr>
          <p:cNvPr id="20" name="Shape 18"/>
          <p:cNvSpPr/>
          <p:nvPr/>
        </p:nvSpPr>
        <p:spPr>
          <a:xfrm>
            <a:off x="1371600" y="5257800"/>
            <a:ext cx="9418320" cy="914400"/>
          </a:xfrm>
          <a:prstGeom prst="roundRect">
            <a:avLst>
              <a:gd name="adj" fmla="val 9000"/>
            </a:avLst>
          </a:prstGeom>
          <a:solidFill>
            <a:srgbClr val="F3E9D2"/>
          </a:solidFill>
          <a:ln w="15875">
            <a:solidFill>
              <a:srgbClr val="C9A9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99616" y="5330952"/>
            <a:ext cx="9162288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D17A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DB：PostgreSQL（Flywayでスキーマ管理）</a:t>
            </a:r>
            <a:endParaRPr lang="en-US" sz="12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ITEM（商品マスタ） ／ SALE・SALE_ITEM（売上ヘッダ・明細）　※Flywayマイグレーション（V1/V2）でスキーマ・初期データを投入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7200" y="6528816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3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spring-boot-practice ｜ 美容品販売管理システム（社内共有用）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52144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3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D17A9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開発環境の連携：VS Code × Claude Code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676656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B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AIアシスタントがIDE上でコード編集からビルド・実機確認まで一貫して実施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5577840" cy="4480560"/>
          </a:xfrm>
          <a:prstGeom prst="roundRect">
            <a:avLst>
              <a:gd name="adj" fmla="val 1837"/>
            </a:avLst>
          </a:prstGeom>
          <a:solidFill>
            <a:srgbClr val="FFFFFF"/>
          </a:solidFill>
          <a:ln w="15875">
            <a:solidFill>
              <a:srgbClr val="D17A9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1444752"/>
            <a:ext cx="5321808" cy="4334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17A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VS Code（統合開発環境）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1874520"/>
            <a:ext cx="5029200" cy="868680"/>
          </a:xfrm>
          <a:prstGeom prst="roundRect">
            <a:avLst>
              <a:gd name="adj" fmla="val 9474"/>
            </a:avLst>
          </a:prstGeom>
          <a:solidFill>
            <a:srgbClr val="D17A9C"/>
          </a:solidFill>
          <a:ln w="15875">
            <a:solidFill>
              <a:srgbClr val="D17A9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9536" y="1947672"/>
            <a:ext cx="4773168" cy="722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 Code（AI開発アシスタント）</a:t>
            </a:r>
            <a:endParaRPr lang="en-US" sz="125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B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人が日本語チャットで要望を伝えるだけで、</a:t>
            </a:r>
            <a:endParaRPr lang="en-US" sz="125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B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設計〜実装〜検証まで代行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1746504" y="2788920"/>
            <a:ext cx="256032" cy="320040"/>
          </a:xfrm>
          <a:prstGeom prst="downArrow">
            <a:avLst/>
          </a:prstGeom>
          <a:solidFill>
            <a:srgbClr val="C9A961"/>
          </a:solidFill>
          <a:ln/>
        </p:spPr>
      </p:sp>
      <p:sp>
        <p:nvSpPr>
          <p:cNvPr id="11" name="Shape 9"/>
          <p:cNvSpPr/>
          <p:nvPr/>
        </p:nvSpPr>
        <p:spPr>
          <a:xfrm>
            <a:off x="4352544" y="2788920"/>
            <a:ext cx="256032" cy="320040"/>
          </a:xfrm>
          <a:prstGeom prst="downArrow">
            <a:avLst/>
          </a:prstGeom>
          <a:solidFill>
            <a:srgbClr val="C9A961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0" y="3154680"/>
            <a:ext cx="2331720" cy="1143000"/>
          </a:xfrm>
          <a:prstGeom prst="roundRect">
            <a:avLst>
              <a:gd name="adj" fmla="val 7200"/>
            </a:avLst>
          </a:prstGeom>
          <a:solidFill>
            <a:srgbClr val="FBEAF0"/>
          </a:solidFill>
          <a:ln w="15875">
            <a:solidFill>
              <a:srgbClr val="D17A9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9536" y="3227832"/>
            <a:ext cx="2075688" cy="9966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17A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編集するファイル</a:t>
            </a:r>
            <a:endParaRPr lang="en-US" sz="11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Java（Controller/Service/</a:t>
            </a:r>
            <a:endParaRPr lang="en-US" sz="11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Repository/Entity）</a:t>
            </a:r>
            <a:endParaRPr lang="en-US" sz="11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Thymeleaf（.html）</a:t>
            </a:r>
            <a:endParaRPr lang="en-US" sz="11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build.gradle</a:t>
            </a:r>
            <a:endParaRPr lang="en-US" sz="11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CLAUDE.md（設計ルール）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246120" y="3154680"/>
            <a:ext cx="2514600" cy="1143000"/>
          </a:xfrm>
          <a:prstGeom prst="roundRect">
            <a:avLst>
              <a:gd name="adj" fmla="val 7200"/>
            </a:avLst>
          </a:prstGeom>
          <a:solidFill>
            <a:srgbClr val="F3E9D2"/>
          </a:solidFill>
          <a:ln w="15875">
            <a:solidFill>
              <a:srgbClr val="C9A9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74136" y="3227832"/>
            <a:ext cx="2258568" cy="9966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17A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実行するコマンド</a:t>
            </a:r>
            <a:endParaRPr lang="en-US" sz="115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./gradlew bootRun</a:t>
            </a:r>
            <a:endParaRPr lang="en-US" sz="115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./gradlew test</a:t>
            </a:r>
            <a:endParaRPr lang="en-US" sz="115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 status / diff 等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4434840"/>
            <a:ext cx="5029200" cy="1234440"/>
          </a:xfrm>
          <a:prstGeom prst="roundRect">
            <a:avLst>
              <a:gd name="adj" fmla="val 6667"/>
            </a:avLst>
          </a:prstGeom>
          <a:solidFill>
            <a:srgbClr val="FBEAF0"/>
          </a:solidFill>
          <a:ln w="15875">
            <a:solidFill>
              <a:srgbClr val="D17A9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9536" y="4507992"/>
            <a:ext cx="4773168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17A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CLAUDE.md（プロジェクトルール）</a:t>
            </a:r>
            <a:endParaRPr lang="en-US" sz="11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「サービス層に業務ロジック」「コントローラは薄く」</a:t>
            </a:r>
            <a:endParaRPr lang="en-US" sz="11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「例外はドメイン例外→HTTPステータスに変換」等を明文化。</a:t>
            </a:r>
            <a:endParaRPr lang="en-US" sz="11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 Codeは常にこのルールに従って実装する。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126480" y="3154680"/>
            <a:ext cx="502920" cy="274320"/>
          </a:xfrm>
          <a:prstGeom prst="rightArrow">
            <a:avLst/>
          </a:prstGeom>
          <a:solidFill>
            <a:srgbClr val="C9A961"/>
          </a:solidFill>
          <a:ln/>
        </p:spPr>
      </p:sp>
      <p:sp>
        <p:nvSpPr>
          <p:cNvPr id="19" name="Text 17"/>
          <p:cNvSpPr/>
          <p:nvPr/>
        </p:nvSpPr>
        <p:spPr>
          <a:xfrm>
            <a:off x="6108192" y="2880360"/>
            <a:ext cx="777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73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ビルド／起動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720840" y="1371600"/>
            <a:ext cx="4983480" cy="1234440"/>
          </a:xfrm>
          <a:prstGeom prst="roundRect">
            <a:avLst>
              <a:gd name="adj" fmla="val 6667"/>
            </a:avLst>
          </a:prstGeom>
          <a:solidFill>
            <a:srgbClr val="F3E9D2"/>
          </a:solidFill>
          <a:ln w="15875">
            <a:solidFill>
              <a:srgbClr val="C9A9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48856" y="1444752"/>
            <a:ext cx="4727448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17A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Gradle</a:t>
            </a:r>
            <a:endParaRPr lang="en-US" sz="13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依存解決・コンパイル・テスト実行・</a:t>
            </a:r>
            <a:endParaRPr lang="en-US" sz="13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Spring Bootアプリの起動を担当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079992" y="2651760"/>
            <a:ext cx="256032" cy="320040"/>
          </a:xfrm>
          <a:prstGeom prst="downArrow">
            <a:avLst/>
          </a:prstGeom>
          <a:solidFill>
            <a:srgbClr val="C9A961"/>
          </a:solidFill>
          <a:ln/>
        </p:spPr>
      </p:sp>
      <p:sp>
        <p:nvSpPr>
          <p:cNvPr id="23" name="Shape 21"/>
          <p:cNvSpPr/>
          <p:nvPr/>
        </p:nvSpPr>
        <p:spPr>
          <a:xfrm>
            <a:off x="6720840" y="3017520"/>
            <a:ext cx="4983480" cy="1234440"/>
          </a:xfrm>
          <a:prstGeom prst="roundRect">
            <a:avLst>
              <a:gd name="adj" fmla="val 6667"/>
            </a:avLst>
          </a:prstGeom>
          <a:solidFill>
            <a:srgbClr val="FBEAF0"/>
          </a:solidFill>
          <a:ln w="15875">
            <a:solidFill>
              <a:srgbClr val="D17A9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48856" y="3090672"/>
            <a:ext cx="4727448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D17A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Spring Boot アプリ（組み込みTomcat）</a:t>
            </a:r>
            <a:endParaRPr lang="en-US" sz="125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Thymeleafテンプレートをレンダリングして画面を返却</a:t>
            </a:r>
            <a:endParaRPr lang="en-US" sz="125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／ REST API（JSON）を返却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9079992" y="4297680"/>
            <a:ext cx="256032" cy="320040"/>
          </a:xfrm>
          <a:prstGeom prst="downArrow">
            <a:avLst/>
          </a:prstGeom>
          <a:solidFill>
            <a:srgbClr val="C9A961"/>
          </a:solidFill>
          <a:ln/>
        </p:spPr>
      </p:sp>
      <p:sp>
        <p:nvSpPr>
          <p:cNvPr id="26" name="Shape 24"/>
          <p:cNvSpPr/>
          <p:nvPr/>
        </p:nvSpPr>
        <p:spPr>
          <a:xfrm>
            <a:off x="6720840" y="4663440"/>
            <a:ext cx="498348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5875">
            <a:solidFill>
              <a:srgbClr val="D17A9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48856" y="4736592"/>
            <a:ext cx="4727448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D17A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ブラウザで実機確認</a:t>
            </a:r>
            <a:endParaRPr lang="en-US" sz="125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 Code 自身が curl や起動ログで動作確認し、</a:t>
            </a:r>
            <a:endParaRPr lang="en-US" sz="125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結果を見て人にフィードバック。必要ならさらに修正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720840" y="6053328"/>
            <a:ext cx="-5989320" cy="0"/>
          </a:xfrm>
          <a:prstGeom prst="line">
            <a:avLst/>
          </a:prstGeom>
          <a:noFill/>
          <a:ln w="15875">
            <a:solidFill>
              <a:srgbClr val="8A7377"/>
            </a:solidFill>
            <a:prstDash val="dash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1371600" y="6108192"/>
            <a:ext cx="4892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73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確認結果をもとに再修正（フィードバックループ）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" y="6528816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3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spring-boot-practice ｜ 美容品販売管理システム（社内共有用）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52144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3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D17A9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技術的なハイライト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676656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B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設計上、特に工夫したポイント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440680" cy="1417320"/>
          </a:xfrm>
          <a:prstGeom prst="roundRect">
            <a:avLst>
              <a:gd name="adj" fmla="val 5806"/>
            </a:avLst>
          </a:prstGeom>
          <a:solidFill>
            <a:srgbClr val="FBEAF0"/>
          </a:solidFill>
          <a:ln w="15875">
            <a:solidFill>
              <a:srgbClr val="D17A9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1490472"/>
            <a:ext cx="5184648" cy="12710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D17A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レイヤードアーキテクチャの徹底</a:t>
            </a:r>
            <a:endParaRPr lang="en-US" sz="12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Controllerを薄く保ち、業務ロジックはServiceに集約。ドメイン例外をControllerでHTTPステータス／画面表示に変換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417320"/>
            <a:ext cx="5440680" cy="1417320"/>
          </a:xfrm>
          <a:prstGeom prst="roundRect">
            <a:avLst>
              <a:gd name="adj" fmla="val 5806"/>
            </a:avLst>
          </a:prstGeom>
          <a:solidFill>
            <a:srgbClr val="F3E9D2"/>
          </a:solidFill>
          <a:ln w="15875">
            <a:solidFill>
              <a:srgbClr val="C9A9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91656" y="1490472"/>
            <a:ext cx="5184648" cy="12710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D17A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1トランザクションでの整合性担保</a:t>
            </a:r>
            <a:endParaRPr lang="en-US" sz="12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在庫検証 → 売上登録 → 在庫更新 を SaleService#checkout 内で一括処理し、途中失敗時はロールバック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971800"/>
            <a:ext cx="5440680" cy="1417320"/>
          </a:xfrm>
          <a:prstGeom prst="roundRect">
            <a:avLst>
              <a:gd name="adj" fmla="val 5806"/>
            </a:avLst>
          </a:prstGeom>
          <a:solidFill>
            <a:srgbClr val="FBEAF0"/>
          </a:solidFill>
          <a:ln w="15875">
            <a:solidFill>
              <a:srgbClr val="D17A9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5216" y="3044952"/>
            <a:ext cx="5184648" cy="12710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D17A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売上明細のスナップショット設計</a:t>
            </a:r>
            <a:endParaRPr lang="en-US" sz="12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SaleItemに商品名・単価を複製保存。後日の価格改定があっても過去の売上明細は変化しない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63640" y="2971800"/>
            <a:ext cx="5440680" cy="1417320"/>
          </a:xfrm>
          <a:prstGeom prst="roundRect">
            <a:avLst>
              <a:gd name="adj" fmla="val 5806"/>
            </a:avLst>
          </a:prstGeom>
          <a:solidFill>
            <a:srgbClr val="F3E9D2"/>
          </a:solidFill>
          <a:ln w="15875">
            <a:solidFill>
              <a:srgbClr val="C9A9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91656" y="3044952"/>
            <a:ext cx="5184648" cy="12710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D17A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セッションスコープの Cart</a:t>
            </a:r>
            <a:endParaRPr lang="en-US" sz="12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会計中のカートはDBに書き込まず、セッション上のみで保持。支払い確定時にのみ永続化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4526280"/>
            <a:ext cx="5440680" cy="1417320"/>
          </a:xfrm>
          <a:prstGeom prst="roundRect">
            <a:avLst>
              <a:gd name="adj" fmla="val 5806"/>
            </a:avLst>
          </a:prstGeom>
          <a:solidFill>
            <a:srgbClr val="FBEAF0"/>
          </a:solidFill>
          <a:ln w="15875">
            <a:solidFill>
              <a:srgbClr val="D17A9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5216" y="4599432"/>
            <a:ext cx="5184648" cy="12710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D17A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画面とREST APIの共存</a:t>
            </a:r>
            <a:endParaRPr lang="en-US" sz="12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既存の /api/items（JSON）を壊さずに、Thymeleafによる画面（/pos, /items, /sales）を追加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63640" y="4526280"/>
            <a:ext cx="5440680" cy="1417320"/>
          </a:xfrm>
          <a:prstGeom prst="roundRect">
            <a:avLst>
              <a:gd name="adj" fmla="val 5806"/>
            </a:avLst>
          </a:prstGeom>
          <a:solidFill>
            <a:srgbClr val="F3E9D2"/>
          </a:solidFill>
          <a:ln w="15875">
            <a:solidFill>
              <a:srgbClr val="C9A9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91656" y="4599432"/>
            <a:ext cx="5184648" cy="12710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D17A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ポップアップ検索UI</a:t>
            </a:r>
            <a:endParaRPr lang="en-US" sz="12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HTML標準の &lt;dialog&gt; 要素＋サーバーサイドレンダリングのみでモーダルUXを実現（SPA化不要）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57200" y="6528816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3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spring-boot-practice ｜ 美容品販売管理システム（社内共有用）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52144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3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D17A9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品質担保の取り組み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676656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B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コードを書いて終わりではなく、動く状態まで確認してから完了とする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3566160" cy="448056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5875">
            <a:solidFill>
              <a:srgbClr val="D17A9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1490472"/>
            <a:ext cx="3310128" cy="4334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17A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自動テスト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8368" y="1874520"/>
            <a:ext cx="32004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●"/>
            </a:pPr>
            <a:r>
              <a:rPr lang="en-US" sz="12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JUnit 5 + MockMvc</a:t>
            </a:r>
            <a:endParaRPr lang="en-US" sz="1200" dirty="0"/>
          </a:p>
          <a:p>
            <a:pPr marL="342900" indent="-342900">
              <a:spcAft>
                <a:spcPts val="1400"/>
              </a:spcAft>
              <a:buSzPct val="100000"/>
              <a:buChar char="●"/>
            </a:pPr>
            <a:r>
              <a:rPr lang="en-US" sz="12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でコントローラをテスト</a:t>
            </a:r>
            <a:endParaRPr lang="en-US" sz="1200" dirty="0"/>
          </a:p>
          <a:p>
            <a:pPr marL="342900" indent="-342900">
              <a:spcAft>
                <a:spcPts val="1400"/>
              </a:spcAft>
              <a:buSzPct val="100000"/>
              <a:buChar char="●"/>
            </a:pPr>
            <a:r>
              <a:rPr lang="en-US" sz="12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Spring Boot Test で</a:t>
            </a:r>
            <a:endParaRPr lang="en-US" sz="1200" dirty="0"/>
          </a:p>
          <a:p>
            <a:pPr marL="342900" indent="-342900">
              <a:spcAft>
                <a:spcPts val="1400"/>
              </a:spcAft>
              <a:buSzPct val="100000"/>
              <a:buChar char="●"/>
            </a:pPr>
            <a:r>
              <a:rPr lang="en-US" sz="12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サービス層を統合テスト</a:t>
            </a:r>
            <a:endParaRPr lang="en-US" sz="1200" dirty="0"/>
          </a:p>
          <a:p>
            <a:pPr marL="342900" indent="-342900">
              <a:spcAft>
                <a:spcPts val="1400"/>
              </a:spcAft>
              <a:buSzPct val="100000"/>
              <a:buChar char="●"/>
            </a:pPr>
            <a:r>
              <a:rPr lang="en-US" sz="12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在庫減算・売上登録・</a:t>
            </a:r>
            <a:endParaRPr lang="en-US" sz="1200" dirty="0"/>
          </a:p>
          <a:p>
            <a:pPr marL="342900" indent="-342900">
              <a:spcAft>
                <a:spcPts val="1400"/>
              </a:spcAft>
              <a:buSzPct val="100000"/>
              <a:buChar char="●"/>
            </a:pPr>
            <a:r>
              <a:rPr lang="en-US" sz="12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異常系（在庫不足等）を検証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417320"/>
            <a:ext cx="3566160" cy="448056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5875">
            <a:solidFill>
              <a:srgbClr val="D17A9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25696" y="1490472"/>
            <a:ext cx="3310128" cy="4334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17A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実機での動作確認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498848" y="1874520"/>
            <a:ext cx="32004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●"/>
            </a:pPr>
            <a:r>
              <a:rPr lang="en-US" sz="12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gradlew bootRunで</a:t>
            </a:r>
            <a:endParaRPr lang="en-US" sz="1200" dirty="0"/>
          </a:p>
          <a:p>
            <a:pPr marL="342900" indent="-342900">
              <a:spcAft>
                <a:spcPts val="1400"/>
              </a:spcAft>
              <a:buSzPct val="100000"/>
              <a:buChar char="●"/>
            </a:pPr>
            <a:r>
              <a:rPr lang="en-US" sz="12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実際にアプリを起動</a:t>
            </a:r>
            <a:endParaRPr lang="en-US" sz="1200" dirty="0"/>
          </a:p>
          <a:p>
            <a:pPr marL="342900" indent="-342900">
              <a:spcAft>
                <a:spcPts val="1400"/>
              </a:spcAft>
              <a:buSzPct val="100000"/>
              <a:buChar char="●"/>
            </a:pPr>
            <a:r>
              <a:rPr lang="en-US" sz="12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curl／ブラウザ操作（Playwright）で</a:t>
            </a:r>
            <a:endParaRPr lang="en-US" sz="1200" dirty="0"/>
          </a:p>
          <a:p>
            <a:pPr marL="342900" indent="-342900">
              <a:spcAft>
                <a:spcPts val="1400"/>
              </a:spcAft>
              <a:buSzPct val="100000"/>
              <a:buChar char="●"/>
            </a:pPr>
            <a:r>
              <a:rPr lang="en-US" sz="12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正常系・異常系を一通り確認</a:t>
            </a:r>
            <a:endParaRPr lang="en-US" sz="1200" dirty="0"/>
          </a:p>
          <a:p>
            <a:pPr marL="342900" indent="-342900">
              <a:spcAft>
                <a:spcPts val="1400"/>
              </a:spcAft>
              <a:buSzPct val="100000"/>
              <a:buChar char="●"/>
            </a:pPr>
            <a:r>
              <a:rPr lang="en-US" sz="12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在庫・売上テーブルの</a:t>
            </a:r>
            <a:endParaRPr lang="en-US" sz="1200" dirty="0"/>
          </a:p>
          <a:p>
            <a:pPr marL="342900" indent="-342900">
              <a:spcAft>
                <a:spcPts val="1400"/>
              </a:spcAft>
              <a:buSzPct val="100000"/>
              <a:buChar char="●"/>
            </a:pPr>
            <a:r>
              <a:rPr lang="en-US" sz="12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中身をpsql（またはpgAdmin）で確認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38160" y="1417320"/>
            <a:ext cx="3593592" cy="4480560"/>
          </a:xfrm>
          <a:prstGeom prst="roundRect">
            <a:avLst>
              <a:gd name="adj" fmla="val 2290"/>
            </a:avLst>
          </a:prstGeom>
          <a:solidFill>
            <a:srgbClr val="FFFFFF"/>
          </a:solidFill>
          <a:ln w="15875">
            <a:solidFill>
              <a:srgbClr val="D17A9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66176" y="1490472"/>
            <a:ext cx="3337560" cy="4334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17A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ドキュメント化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339328" y="1874520"/>
            <a:ext cx="32004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●"/>
            </a:pPr>
            <a:r>
              <a:rPr lang="en-US" sz="12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業務フロー・アーキテクチャ・</a:t>
            </a:r>
            <a:endParaRPr lang="en-US" sz="1200" dirty="0"/>
          </a:p>
          <a:p>
            <a:pPr marL="342900" indent="-342900">
              <a:spcAft>
                <a:spcPts val="1400"/>
              </a:spcAft>
              <a:buSzPct val="100000"/>
              <a:buChar char="●"/>
            </a:pPr>
            <a:r>
              <a:rPr lang="en-US" sz="12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DB構成をExcelに整理</a:t>
            </a:r>
            <a:endParaRPr lang="en-US" sz="1200" dirty="0"/>
          </a:p>
          <a:p>
            <a:pPr marL="342900" indent="-342900">
              <a:spcAft>
                <a:spcPts val="1400"/>
              </a:spcAft>
              <a:buSzPct val="100000"/>
              <a:buChar char="●"/>
            </a:pPr>
            <a:r>
              <a:rPr lang="en-US" sz="12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画面変更のたびに</a:t>
            </a:r>
            <a:endParaRPr lang="en-US" sz="1200" dirty="0"/>
          </a:p>
          <a:p>
            <a:pPr marL="342900" indent="-342900">
              <a:spcAft>
                <a:spcPts val="1400"/>
              </a:spcAft>
              <a:buSzPct val="100000"/>
              <a:buChar char="●"/>
            </a:pPr>
            <a:r>
              <a:rPr lang="en-US" sz="12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ドキュメントも追随して更新</a:t>
            </a:r>
            <a:endParaRPr lang="en-US" sz="1200" dirty="0"/>
          </a:p>
          <a:p>
            <a:pPr marL="342900" indent="-342900">
              <a:spcAft>
                <a:spcPts val="1400"/>
              </a:spcAft>
              <a:buSzPct val="100000"/>
              <a:buChar char="●"/>
            </a:pPr>
            <a:r>
              <a:rPr lang="en-US" sz="12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本資料（PowerPoint）で</a:t>
            </a:r>
            <a:endParaRPr lang="en-US" sz="1200" dirty="0"/>
          </a:p>
          <a:p>
            <a:pPr marL="342900" indent="-342900">
              <a:spcAft>
                <a:spcPts val="1400"/>
              </a:spcAft>
              <a:buSzPct val="100000"/>
              <a:buChar char="●"/>
            </a:pPr>
            <a:r>
              <a:rPr lang="en-US" sz="12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技術ハイライトを共有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528816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3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spring-boot-practice ｜ 美容品販売管理システム（社内共有用）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52144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3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D17A9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想定Q&amp;A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676656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B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上司・チームから聞かれそうな質問と回答の例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44068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5875">
            <a:solidFill>
              <a:srgbClr val="D17A9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527048"/>
            <a:ext cx="5111496" cy="1929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9A9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Q.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17A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 Spring Boot + Thymeleaf の構成にしたのか？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A. Javaエコシステムで広く使われる標準的な構成で学習コストが低く、REST APIとサーバーサイド画面（Thymeleaf）を1つのプロジェクトで両立できるため。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63640" y="1417320"/>
            <a:ext cx="544068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5875">
            <a:solidFill>
              <a:srgbClr val="D17A9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28232" y="1527048"/>
            <a:ext cx="5111496" cy="1929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9A9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Q.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17A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 Code は具体的に何をしてくれるのか？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A. VS Code上で動くAI開発アシスタント。要望をチャットで伝えると、設計方針の相談・コード実装・テスト実行・実機での動作確認・ドキュメント作成までを一貫して行う。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3749040"/>
            <a:ext cx="544068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5875">
            <a:solidFill>
              <a:srgbClr val="D17A9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" y="3858768"/>
            <a:ext cx="5111496" cy="1929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9A9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Q.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17A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本番環境でもこのまま使えるのか？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A. 2026年8月にPostgreSQL（本番想定DB）へ移行済み。Flywayでスキーマ・初期データをバージョン管理し、データは永続化される（テストのみH2インメモリで完結）。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63640" y="3749040"/>
            <a:ext cx="544068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5875">
            <a:solidFill>
              <a:srgbClr val="D17A9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28232" y="3858768"/>
            <a:ext cx="5111496" cy="1929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9A9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Q.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17A9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品質はどう担保しているのか？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A3B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A. JUnit／MockMvcによる自動テストに加え、実機を起動してcurlやブラウザ操作で正常系・異常系を人手でも確認するプロセスを徹底している。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6528816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3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spring-boot-practice ｜ 美容品販売管理システム（社内共有用）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52144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3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17A9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566160"/>
            <a:ext cx="12191695" cy="4572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288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74320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B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VS Code 上で動く Claude Code が、Java／Spring Boot／Thymeleaf のコードを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B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一貫して実装・検証・ドキュメント化。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B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人は要件定義と最終確認に集中できる開発体制を実践しました。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3E9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関連資料：docs/プロジェクトの概要.xlsx（業務フロー・DB構成・動作確認手順）／ GitHub: github.com/maythazinoo12mm/beautyPOS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spring-boot-practice 技術ハイライト</dc:title>
  <dc:subject>PptxGenJS Presentation</dc:subject>
  <dc:creator>Claude Code</dc:creator>
  <cp:lastModifiedBy>Claude Code</cp:lastModifiedBy>
  <cp:revision>1</cp:revision>
  <dcterms:created xsi:type="dcterms:W3CDTF">2026-08-25T04:15:41Z</dcterms:created>
  <dcterms:modified xsi:type="dcterms:W3CDTF">2026-08-25T04:15:41Z</dcterms:modified>
</cp:coreProperties>
</file>